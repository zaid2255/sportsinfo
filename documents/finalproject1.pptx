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7" r:id="rId4"/>
    <p:sldId id="268" r:id="rId5"/>
    <p:sldId id="269" r:id="rId6"/>
    <p:sldId id="270" r:id="rId7"/>
    <p:sldId id="271" r:id="rId8"/>
    <p:sldId id="272" r:id="rId9"/>
    <p:sldId id="27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357" autoAdjust="0"/>
  </p:normalViewPr>
  <p:slideViewPr>
    <p:cSldViewPr snapToGrid="0">
      <p:cViewPr varScale="1">
        <p:scale>
          <a:sx n="69" d="100"/>
          <a:sy n="69" d="100"/>
        </p:scale>
        <p:origin x="78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EB82A8A-44E3-49FD-866E-B6AB2AFE9809}" type="datetimeFigureOut">
              <a:rPr lang="en-US" smtClean="0"/>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E966AF-9F89-4BC7-921C-69BFF8A2B422}" type="slidenum">
              <a:rPr lang="en-US" smtClean="0"/>
              <a:t>‹#›</a:t>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6958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EB82A8A-44E3-49FD-866E-B6AB2AFE9809}" type="datetimeFigureOut">
              <a:rPr lang="en-US" smtClean="0"/>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3709289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B82A8A-44E3-49FD-866E-B6AB2AFE9809}" type="datetimeFigureOut">
              <a:rPr lang="en-US" smtClean="0"/>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189116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EB82A8A-44E3-49FD-866E-B6AB2AFE9809}" type="datetimeFigureOut">
              <a:rPr lang="en-US" smtClean="0"/>
              <a:t>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199868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EB82A8A-44E3-49FD-866E-B6AB2AFE9809}" type="datetimeFigureOut">
              <a:rPr lang="en-US" smtClean="0"/>
              <a:t>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156882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EB82A8A-44E3-49FD-866E-B6AB2AFE9809}" type="datetimeFigureOut">
              <a:rPr lang="en-US" smtClean="0"/>
              <a:t>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2323183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82A8A-44E3-49FD-866E-B6AB2AFE9809}" type="datetimeFigureOut">
              <a:rPr lang="en-US" smtClean="0"/>
              <a:t>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2695940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EB82A8A-44E3-49FD-866E-B6AB2AFE9809}" type="datetimeFigureOut">
              <a:rPr lang="en-US" smtClean="0"/>
              <a:t>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1324632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EB82A8A-44E3-49FD-866E-B6AB2AFE9809}" type="datetimeFigureOut">
              <a:rPr lang="en-US" smtClean="0"/>
              <a:t>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2768449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EB82A8A-44E3-49FD-866E-B6AB2AFE9809}" type="datetimeFigureOut">
              <a:rPr lang="en-US" smtClean="0"/>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56689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EB82A8A-44E3-49FD-866E-B6AB2AFE9809}" type="datetimeFigureOut">
              <a:rPr lang="en-US" smtClean="0"/>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E966AF-9F89-4BC7-921C-69BFF8A2B422}" type="slidenum">
              <a:rPr lang="en-US" smtClean="0"/>
              <a:t>‹#›</a:t>
            </a:fld>
            <a:endParaRPr lang="en-US"/>
          </a:p>
        </p:txBody>
      </p:sp>
    </p:spTree>
    <p:extLst>
      <p:ext uri="{BB962C8B-B14F-4D97-AF65-F5344CB8AC3E}">
        <p14:creationId xmlns:p14="http://schemas.microsoft.com/office/powerpoint/2010/main" val="3916328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B82A8A-44E3-49FD-866E-B6AB2AFE9809}" type="datetimeFigureOut">
              <a:rPr lang="en-US" smtClean="0"/>
              <a:t>1/9/2018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E966AF-9F89-4BC7-921C-69BFF8A2B422}" type="slidenum">
              <a:rPr lang="en-US" smtClean="0"/>
              <a:t>‹#›</a:t>
            </a:fld>
            <a:endParaRPr lang="en-US"/>
          </a:p>
        </p:txBody>
      </p:sp>
    </p:spTree>
    <p:extLst>
      <p:ext uri="{BB962C8B-B14F-4D97-AF65-F5344CB8AC3E}">
        <p14:creationId xmlns:p14="http://schemas.microsoft.com/office/powerpoint/2010/main" val="450360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8149" y="720839"/>
            <a:ext cx="4623516" cy="1569660"/>
          </a:xfrm>
          <a:prstGeom prst="rect">
            <a:avLst/>
          </a:prstGeom>
          <a:noFill/>
        </p:spPr>
        <p:txBody>
          <a:bodyPr wrap="square" rtlCol="0">
            <a:spAutoFit/>
          </a:bodyPr>
          <a:lstStyle/>
          <a:p>
            <a:r>
              <a:rPr lang="en-US" sz="9600" dirty="0" smtClean="0">
                <a:solidFill>
                  <a:schemeClr val="bg1">
                    <a:lumMod val="95000"/>
                  </a:schemeClr>
                </a:solidFill>
                <a:latin typeface="Adobe Fan Heiti Std B" panose="020B0700000000000000" pitchFamily="34" charset="-128"/>
                <a:ea typeface="Adobe Fan Heiti Std B" panose="020B0700000000000000" pitchFamily="34" charset="-128"/>
              </a:rPr>
              <a:t>Topic</a:t>
            </a:r>
            <a:r>
              <a:rPr lang="en-US" sz="4400" dirty="0" smtClean="0">
                <a:solidFill>
                  <a:schemeClr val="bg1">
                    <a:lumMod val="95000"/>
                  </a:schemeClr>
                </a:solidFill>
              </a:rPr>
              <a:t> </a:t>
            </a:r>
            <a:endParaRPr lang="en-US" sz="4400" dirty="0">
              <a:solidFill>
                <a:schemeClr val="bg1">
                  <a:lumMod val="95000"/>
                </a:schemeClr>
              </a:solidFill>
            </a:endParaRPr>
          </a:p>
        </p:txBody>
      </p:sp>
      <p:sp>
        <p:nvSpPr>
          <p:cNvPr id="3" name="TextBox 2"/>
          <p:cNvSpPr txBox="1"/>
          <p:nvPr/>
        </p:nvSpPr>
        <p:spPr>
          <a:xfrm>
            <a:off x="4270482" y="2411522"/>
            <a:ext cx="6877129" cy="1015663"/>
          </a:xfrm>
          <a:prstGeom prst="rect">
            <a:avLst/>
          </a:prstGeom>
          <a:noFill/>
        </p:spPr>
        <p:txBody>
          <a:bodyPr wrap="square" rtlCol="0">
            <a:spAutoFit/>
          </a:bodyPr>
          <a:lstStyle/>
          <a:p>
            <a:r>
              <a:rPr lang="en-US" sz="6000" dirty="0" smtClean="0">
                <a:solidFill>
                  <a:schemeClr val="bg1">
                    <a:lumMod val="85000"/>
                  </a:schemeClr>
                </a:solidFill>
              </a:rPr>
              <a:t>Sports Info</a:t>
            </a:r>
            <a:endParaRPr lang="en-US" sz="6000" dirty="0">
              <a:solidFill>
                <a:schemeClr val="bg1">
                  <a:lumMod val="85000"/>
                </a:schemeClr>
              </a:solidFill>
            </a:endParaRPr>
          </a:p>
        </p:txBody>
      </p:sp>
      <p:sp>
        <p:nvSpPr>
          <p:cNvPr id="4" name="TextBox 3"/>
          <p:cNvSpPr txBox="1"/>
          <p:nvPr/>
        </p:nvSpPr>
        <p:spPr>
          <a:xfrm>
            <a:off x="2501154" y="4208929"/>
            <a:ext cx="2830512" cy="861774"/>
          </a:xfrm>
          <a:prstGeom prst="rect">
            <a:avLst/>
          </a:prstGeom>
          <a:noFill/>
        </p:spPr>
        <p:txBody>
          <a:bodyPr wrap="square" rtlCol="0">
            <a:spAutoFit/>
          </a:bodyPr>
          <a:lstStyle/>
          <a:p>
            <a:r>
              <a:rPr lang="en-US" sz="3200" dirty="0">
                <a:solidFill>
                  <a:schemeClr val="bg1">
                    <a:lumMod val="95000"/>
                  </a:schemeClr>
                </a:solidFill>
              </a:rPr>
              <a:t>Student Name : </a:t>
            </a:r>
          </a:p>
          <a:p>
            <a:endParaRPr lang="en-US" dirty="0"/>
          </a:p>
        </p:txBody>
      </p:sp>
      <p:sp>
        <p:nvSpPr>
          <p:cNvPr id="5" name="TextBox 4"/>
          <p:cNvSpPr txBox="1"/>
          <p:nvPr/>
        </p:nvSpPr>
        <p:spPr>
          <a:xfrm>
            <a:off x="5570964" y="4101353"/>
            <a:ext cx="4276164" cy="830997"/>
          </a:xfrm>
          <a:prstGeom prst="rect">
            <a:avLst/>
          </a:prstGeom>
          <a:noFill/>
        </p:spPr>
        <p:txBody>
          <a:bodyPr wrap="square" rtlCol="0">
            <a:spAutoFit/>
          </a:bodyPr>
          <a:lstStyle/>
          <a:p>
            <a:r>
              <a:rPr lang="en-US" sz="2400" dirty="0" smtClean="0">
                <a:solidFill>
                  <a:schemeClr val="bg1">
                    <a:lumMod val="95000"/>
                  </a:schemeClr>
                </a:solidFill>
              </a:rPr>
              <a:t>Zaid Iftikhar  ( 1067872 )</a:t>
            </a:r>
          </a:p>
          <a:p>
            <a:r>
              <a:rPr lang="en-US" sz="2400" dirty="0" smtClean="0">
                <a:solidFill>
                  <a:schemeClr val="bg1">
                    <a:lumMod val="95000"/>
                  </a:schemeClr>
                </a:solidFill>
              </a:rPr>
              <a:t>Zohaib Kabir ( 1051954 )</a:t>
            </a:r>
            <a:endParaRPr lang="en-US" sz="2400" dirty="0">
              <a:solidFill>
                <a:schemeClr val="bg1">
                  <a:lumMod val="95000"/>
                </a:schemeClr>
              </a:solidFill>
            </a:endParaRPr>
          </a:p>
        </p:txBody>
      </p:sp>
      <p:sp>
        <p:nvSpPr>
          <p:cNvPr id="6" name="TextBox 5"/>
          <p:cNvSpPr txBox="1"/>
          <p:nvPr/>
        </p:nvSpPr>
        <p:spPr>
          <a:xfrm>
            <a:off x="2501154" y="5070703"/>
            <a:ext cx="5661212" cy="1323439"/>
          </a:xfrm>
          <a:prstGeom prst="rect">
            <a:avLst/>
          </a:prstGeom>
          <a:noFill/>
        </p:spPr>
        <p:txBody>
          <a:bodyPr wrap="square" rtlCol="0">
            <a:spAutoFit/>
          </a:bodyPr>
          <a:lstStyle/>
          <a:p>
            <a:r>
              <a:rPr lang="en-US" sz="2000" dirty="0">
                <a:solidFill>
                  <a:schemeClr val="bg1">
                    <a:lumMod val="95000"/>
                  </a:schemeClr>
                </a:solidFill>
              </a:rPr>
              <a:t>Center Name : Aptech Computer </a:t>
            </a:r>
            <a:r>
              <a:rPr lang="en-US" sz="2000" dirty="0" smtClean="0">
                <a:solidFill>
                  <a:schemeClr val="bg1">
                    <a:lumMod val="95000"/>
                  </a:schemeClr>
                </a:solidFill>
              </a:rPr>
              <a:t>Education</a:t>
            </a:r>
          </a:p>
          <a:p>
            <a:r>
              <a:rPr lang="en-US" sz="2000" dirty="0">
                <a:solidFill>
                  <a:schemeClr val="bg1">
                    <a:lumMod val="95000"/>
                  </a:schemeClr>
                </a:solidFill>
              </a:rPr>
              <a:t>Branch : Metro Star Gate.</a:t>
            </a:r>
          </a:p>
          <a:p>
            <a:endParaRPr lang="en-US" sz="2000" dirty="0" smtClean="0">
              <a:solidFill>
                <a:schemeClr val="bg1">
                  <a:lumMod val="95000"/>
                </a:schemeClr>
              </a:solidFill>
            </a:endParaRPr>
          </a:p>
          <a:p>
            <a:endParaRPr lang="en-US" sz="2000" dirty="0"/>
          </a:p>
        </p:txBody>
      </p:sp>
    </p:spTree>
    <p:extLst>
      <p:ext uri="{BB962C8B-B14F-4D97-AF65-F5344CB8AC3E}">
        <p14:creationId xmlns:p14="http://schemas.microsoft.com/office/powerpoint/2010/main" val="28763749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6220" y="785611"/>
            <a:ext cx="8500056" cy="1938992"/>
          </a:xfrm>
          <a:prstGeom prst="rect">
            <a:avLst/>
          </a:prstGeom>
          <a:noFill/>
        </p:spPr>
        <p:txBody>
          <a:bodyPr wrap="square" rtlCol="0">
            <a:spAutoFit/>
          </a:bodyPr>
          <a:lstStyle/>
          <a:p>
            <a:r>
              <a:rPr lang="en-US" sz="6000" b="1" dirty="0">
                <a:solidFill>
                  <a:schemeClr val="bg1">
                    <a:lumMod val="95000"/>
                  </a:schemeClr>
                </a:solidFill>
              </a:rPr>
              <a:t>Problem Statement</a:t>
            </a:r>
            <a:endParaRPr lang="en-US" sz="6000" dirty="0">
              <a:solidFill>
                <a:schemeClr val="bg1">
                  <a:lumMod val="95000"/>
                </a:schemeClr>
              </a:solidFill>
            </a:endParaRPr>
          </a:p>
          <a:p>
            <a:endParaRPr lang="en-US" sz="6000" b="1" dirty="0">
              <a:solidFill>
                <a:schemeClr val="bg1">
                  <a:lumMod val="95000"/>
                </a:schemeClr>
              </a:solidFill>
              <a:latin typeface="+mj-lt"/>
            </a:endParaRPr>
          </a:p>
        </p:txBody>
      </p:sp>
      <p:sp>
        <p:nvSpPr>
          <p:cNvPr id="2" name="TextBox 1"/>
          <p:cNvSpPr txBox="1"/>
          <p:nvPr/>
        </p:nvSpPr>
        <p:spPr>
          <a:xfrm>
            <a:off x="2923504" y="1998488"/>
            <a:ext cx="7984901" cy="3785652"/>
          </a:xfrm>
          <a:prstGeom prst="rect">
            <a:avLst/>
          </a:prstGeom>
          <a:noFill/>
        </p:spPr>
        <p:txBody>
          <a:bodyPr wrap="square" rtlCol="0">
            <a:spAutoFit/>
          </a:bodyPr>
          <a:lstStyle/>
          <a:p>
            <a:r>
              <a:rPr lang="en-US" sz="4000" b="1" dirty="0">
                <a:solidFill>
                  <a:schemeClr val="bg1">
                    <a:lumMod val="95000"/>
                  </a:schemeClr>
                </a:solidFill>
              </a:rPr>
              <a:t>Introduction</a:t>
            </a:r>
            <a:endParaRPr lang="en-US" sz="4000" dirty="0">
              <a:solidFill>
                <a:schemeClr val="bg1">
                  <a:lumMod val="95000"/>
                </a:schemeClr>
              </a:solidFill>
            </a:endParaRPr>
          </a:p>
          <a:p>
            <a:r>
              <a:rPr lang="en-US" sz="2000" b="1" i="1" dirty="0">
                <a:solidFill>
                  <a:schemeClr val="bg1">
                    <a:lumMod val="85000"/>
                  </a:schemeClr>
                </a:solidFill>
              </a:rPr>
              <a:t>Infocom</a:t>
            </a:r>
            <a:r>
              <a:rPr lang="en-US" sz="2000" i="1" dirty="0">
                <a:solidFill>
                  <a:schemeClr val="bg1">
                    <a:lumMod val="85000"/>
                  </a:schemeClr>
                </a:solidFill>
              </a:rPr>
              <a:t> </a:t>
            </a:r>
            <a:r>
              <a:rPr lang="en-US" sz="2000" dirty="0">
                <a:solidFill>
                  <a:schemeClr val="bg1">
                    <a:lumMod val="85000"/>
                  </a:schemeClr>
                </a:solidFill>
              </a:rPr>
              <a:t>is a multi national company that builds informative sites. i.e. </a:t>
            </a:r>
            <a:r>
              <a:rPr lang="en-US" sz="2000" b="1" i="1" dirty="0">
                <a:solidFill>
                  <a:schemeClr val="bg1">
                    <a:lumMod val="85000"/>
                  </a:schemeClr>
                </a:solidFill>
              </a:rPr>
              <a:t>CellInfo.com</a:t>
            </a:r>
            <a:r>
              <a:rPr lang="en-US" sz="2000" dirty="0">
                <a:solidFill>
                  <a:schemeClr val="bg1">
                    <a:lumMod val="85000"/>
                  </a:schemeClr>
                </a:solidFill>
              </a:rPr>
              <a:t> site gives all the information about cell phones, </a:t>
            </a:r>
            <a:r>
              <a:rPr lang="en-US" sz="2000" b="1" i="1" dirty="0">
                <a:solidFill>
                  <a:schemeClr val="bg1">
                    <a:lumMod val="85000"/>
                  </a:schemeClr>
                </a:solidFill>
              </a:rPr>
              <a:t>LibertyElectronics.com </a:t>
            </a:r>
            <a:r>
              <a:rPr lang="en-US" sz="2000" dirty="0">
                <a:solidFill>
                  <a:schemeClr val="bg1">
                    <a:lumMod val="85000"/>
                  </a:schemeClr>
                </a:solidFill>
              </a:rPr>
              <a:t>gives information about various electronics products and so on. Now the company has decided to develop a site </a:t>
            </a:r>
            <a:r>
              <a:rPr lang="en-US" sz="2000" b="1" i="1" dirty="0">
                <a:solidFill>
                  <a:schemeClr val="bg1">
                    <a:lumMod val="85000"/>
                  </a:schemeClr>
                </a:solidFill>
              </a:rPr>
              <a:t>sportsinfo.com</a:t>
            </a:r>
            <a:r>
              <a:rPr lang="en-US" sz="2000" dirty="0">
                <a:solidFill>
                  <a:schemeClr val="bg1">
                    <a:lumMod val="85000"/>
                  </a:schemeClr>
                </a:solidFill>
              </a:rPr>
              <a:t> where the user will get information related to sports. The developers in the company are currently working on many other projects because of which development of the </a:t>
            </a:r>
            <a:r>
              <a:rPr lang="en-US" sz="2000" b="1" i="1" dirty="0">
                <a:solidFill>
                  <a:schemeClr val="bg1">
                    <a:lumMod val="85000"/>
                  </a:schemeClr>
                </a:solidFill>
              </a:rPr>
              <a:t>sportsinfo.com </a:t>
            </a:r>
            <a:r>
              <a:rPr lang="en-US" sz="2000" dirty="0">
                <a:solidFill>
                  <a:schemeClr val="bg1">
                    <a:lumMod val="85000"/>
                  </a:schemeClr>
                </a:solidFill>
              </a:rPr>
              <a:t>is getting delayed. Hence the company wants you to develop the site for them.</a:t>
            </a:r>
          </a:p>
          <a:p>
            <a:endParaRPr lang="en-US" sz="4000" dirty="0">
              <a:solidFill>
                <a:schemeClr val="bg1">
                  <a:lumMod val="95000"/>
                </a:schemeClr>
              </a:solidFill>
            </a:endParaRPr>
          </a:p>
        </p:txBody>
      </p:sp>
    </p:spTree>
    <p:extLst>
      <p:ext uri="{BB962C8B-B14F-4D97-AF65-F5344CB8AC3E}">
        <p14:creationId xmlns:p14="http://schemas.microsoft.com/office/powerpoint/2010/main" val="275614242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randombar(horizont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6220" y="785611"/>
            <a:ext cx="8500056" cy="1938992"/>
          </a:xfrm>
          <a:prstGeom prst="rect">
            <a:avLst/>
          </a:prstGeom>
          <a:noFill/>
        </p:spPr>
        <p:txBody>
          <a:bodyPr wrap="square" rtlCol="0">
            <a:spAutoFit/>
          </a:bodyPr>
          <a:lstStyle/>
          <a:p>
            <a:r>
              <a:rPr lang="en-US" sz="6000" b="1" dirty="0">
                <a:solidFill>
                  <a:schemeClr val="bg1">
                    <a:lumMod val="95000"/>
                  </a:schemeClr>
                </a:solidFill>
              </a:rPr>
              <a:t>Customer Expectation:</a:t>
            </a:r>
            <a:endParaRPr lang="en-US" sz="6000" dirty="0">
              <a:solidFill>
                <a:schemeClr val="bg1">
                  <a:lumMod val="95000"/>
                </a:schemeClr>
              </a:solidFill>
            </a:endParaRPr>
          </a:p>
          <a:p>
            <a:endParaRPr lang="en-US" sz="6000" b="1" dirty="0">
              <a:solidFill>
                <a:schemeClr val="bg1">
                  <a:lumMod val="95000"/>
                </a:schemeClr>
              </a:solidFill>
              <a:latin typeface="+mj-lt"/>
            </a:endParaRPr>
          </a:p>
        </p:txBody>
      </p:sp>
      <p:sp>
        <p:nvSpPr>
          <p:cNvPr id="2" name="TextBox 1"/>
          <p:cNvSpPr txBox="1"/>
          <p:nvPr/>
        </p:nvSpPr>
        <p:spPr>
          <a:xfrm>
            <a:off x="1304364" y="1878217"/>
            <a:ext cx="10771095" cy="1692771"/>
          </a:xfrm>
          <a:prstGeom prst="rect">
            <a:avLst/>
          </a:prstGeom>
          <a:noFill/>
        </p:spPr>
        <p:txBody>
          <a:bodyPr wrap="square" rtlCol="0">
            <a:spAutoFit/>
          </a:bodyPr>
          <a:lstStyle/>
          <a:p>
            <a:r>
              <a:rPr lang="en-US" sz="4000" b="1" i="1" dirty="0">
                <a:solidFill>
                  <a:schemeClr val="bg1">
                    <a:lumMod val="95000"/>
                  </a:schemeClr>
                </a:solidFill>
              </a:rPr>
              <a:t>sportsinfo.com</a:t>
            </a:r>
            <a:r>
              <a:rPr lang="en-US" sz="4000" b="1" i="1" dirty="0"/>
              <a:t> </a:t>
            </a:r>
            <a:r>
              <a:rPr lang="en-US" sz="2400" dirty="0">
                <a:solidFill>
                  <a:schemeClr val="bg1">
                    <a:lumMod val="85000"/>
                  </a:schemeClr>
                </a:solidFill>
              </a:rPr>
              <a:t>needs to be constructed considering following requirements:</a:t>
            </a:r>
          </a:p>
          <a:p>
            <a:endParaRPr lang="en-US" sz="4000" dirty="0">
              <a:solidFill>
                <a:schemeClr val="bg1">
                  <a:lumMod val="95000"/>
                </a:schemeClr>
              </a:solidFill>
            </a:endParaRPr>
          </a:p>
        </p:txBody>
      </p:sp>
      <p:sp>
        <p:nvSpPr>
          <p:cNvPr id="4" name="TextBox 3"/>
          <p:cNvSpPr txBox="1"/>
          <p:nvPr/>
        </p:nvSpPr>
        <p:spPr>
          <a:xfrm>
            <a:off x="1882589" y="3059999"/>
            <a:ext cx="10919012" cy="1938992"/>
          </a:xfrm>
          <a:prstGeom prst="rect">
            <a:avLst/>
          </a:prstGeom>
          <a:noFill/>
        </p:spPr>
        <p:txBody>
          <a:bodyPr wrap="square" rtlCol="0">
            <a:spAutoFit/>
          </a:bodyPr>
          <a:lstStyle/>
          <a:p>
            <a:pPr marL="457200" lvl="0" indent="-457200">
              <a:buFont typeface="+mj-lt"/>
              <a:buAutoNum type="arabicPeriod"/>
            </a:pPr>
            <a:r>
              <a:rPr lang="en-US" sz="2400" dirty="0">
                <a:solidFill>
                  <a:schemeClr val="bg1">
                    <a:lumMod val="85000"/>
                  </a:schemeClr>
                </a:solidFill>
              </a:rPr>
              <a:t>Home page with suitable logo.</a:t>
            </a:r>
          </a:p>
          <a:p>
            <a:pPr marL="457200" lvl="0" indent="-457200">
              <a:buFont typeface="+mj-lt"/>
              <a:buAutoNum type="arabicPeriod"/>
            </a:pPr>
            <a:r>
              <a:rPr lang="en-US" sz="2400" dirty="0">
                <a:solidFill>
                  <a:schemeClr val="bg1">
                    <a:lumMod val="85000"/>
                  </a:schemeClr>
                </a:solidFill>
              </a:rPr>
              <a:t>A menu which will include all the functions implemented in the site.</a:t>
            </a:r>
          </a:p>
          <a:p>
            <a:pPr marL="457200" lvl="0" indent="-457200">
              <a:buFont typeface="+mj-lt"/>
              <a:buAutoNum type="arabicPeriod"/>
            </a:pPr>
            <a:r>
              <a:rPr lang="en-US" sz="2400" dirty="0">
                <a:solidFill>
                  <a:schemeClr val="bg1">
                    <a:lumMod val="85000"/>
                  </a:schemeClr>
                </a:solidFill>
              </a:rPr>
              <a:t>The site should provide the information about following sports:</a:t>
            </a:r>
          </a:p>
          <a:p>
            <a:endParaRPr lang="en-US" sz="2400" dirty="0">
              <a:solidFill>
                <a:schemeClr val="bg1">
                  <a:lumMod val="85000"/>
                </a:schemeClr>
              </a:solidFill>
            </a:endParaRPr>
          </a:p>
          <a:p>
            <a:endParaRPr lang="en-US" sz="2400" dirty="0">
              <a:solidFill>
                <a:schemeClr val="bg1">
                  <a:lumMod val="85000"/>
                </a:schemeClr>
              </a:solidFill>
            </a:endParaRPr>
          </a:p>
        </p:txBody>
      </p:sp>
      <p:sp>
        <p:nvSpPr>
          <p:cNvPr id="6" name="TextBox 5"/>
          <p:cNvSpPr txBox="1"/>
          <p:nvPr/>
        </p:nvSpPr>
        <p:spPr>
          <a:xfrm>
            <a:off x="4249271" y="4301368"/>
            <a:ext cx="5674658" cy="2677656"/>
          </a:xfrm>
          <a:prstGeom prst="rect">
            <a:avLst/>
          </a:prstGeom>
          <a:noFill/>
        </p:spPr>
        <p:txBody>
          <a:bodyPr wrap="square" rtlCol="0">
            <a:spAutoFit/>
          </a:bodyPr>
          <a:lstStyle/>
          <a:p>
            <a:pPr marL="800100" lvl="1" indent="-342900">
              <a:buFont typeface="Arial" panose="020B0604020202020204" pitchFamily="34" charset="0"/>
              <a:buChar char="•"/>
            </a:pPr>
            <a:r>
              <a:rPr lang="en-US" sz="2400" dirty="0" smtClean="0">
                <a:solidFill>
                  <a:schemeClr val="bg1">
                    <a:lumMod val="85000"/>
                  </a:schemeClr>
                </a:solidFill>
              </a:rPr>
              <a:t>Football                Judo</a:t>
            </a:r>
            <a:endParaRPr lang="en-US" sz="2400" dirty="0">
              <a:solidFill>
                <a:schemeClr val="bg1">
                  <a:lumMod val="85000"/>
                </a:schemeClr>
              </a:solidFill>
            </a:endParaRPr>
          </a:p>
          <a:p>
            <a:pPr marL="800100" lvl="1" indent="-342900">
              <a:buFont typeface="Arial" panose="020B0604020202020204" pitchFamily="34" charset="0"/>
              <a:buChar char="•"/>
            </a:pPr>
            <a:r>
              <a:rPr lang="en-US" sz="2400" dirty="0" smtClean="0">
                <a:solidFill>
                  <a:schemeClr val="bg1">
                    <a:lumMod val="85000"/>
                  </a:schemeClr>
                </a:solidFill>
              </a:rPr>
              <a:t>Tennis                    Motorcycle Racing</a:t>
            </a:r>
          </a:p>
          <a:p>
            <a:pPr marL="800100" lvl="1" indent="-342900">
              <a:buFont typeface="Arial" panose="020B0604020202020204" pitchFamily="34" charset="0"/>
              <a:buChar char="•"/>
            </a:pPr>
            <a:r>
              <a:rPr lang="en-US" sz="2400" dirty="0" smtClean="0">
                <a:solidFill>
                  <a:schemeClr val="bg1">
                    <a:lumMod val="85000"/>
                  </a:schemeClr>
                </a:solidFill>
              </a:rPr>
              <a:t>Volleyball              Golf</a:t>
            </a:r>
          </a:p>
          <a:p>
            <a:pPr marL="800100" lvl="1" indent="-342900">
              <a:buFont typeface="Arial" panose="020B0604020202020204" pitchFamily="34" charset="0"/>
              <a:buChar char="•"/>
            </a:pPr>
            <a:r>
              <a:rPr lang="en-US" sz="2400" dirty="0" smtClean="0">
                <a:solidFill>
                  <a:schemeClr val="bg1">
                    <a:lumMod val="85000"/>
                  </a:schemeClr>
                </a:solidFill>
              </a:rPr>
              <a:t>Chess                     Billiards</a:t>
            </a:r>
          </a:p>
          <a:p>
            <a:pPr marL="800100" lvl="1" indent="-342900">
              <a:buFont typeface="Arial" panose="020B0604020202020204" pitchFamily="34" charset="0"/>
              <a:buChar char="•"/>
            </a:pPr>
            <a:r>
              <a:rPr lang="en-US" sz="2400" dirty="0" smtClean="0">
                <a:solidFill>
                  <a:schemeClr val="bg1">
                    <a:lumMod val="85000"/>
                  </a:schemeClr>
                </a:solidFill>
              </a:rPr>
              <a:t>Badminton            Swimming</a:t>
            </a:r>
          </a:p>
          <a:p>
            <a:pPr marL="800100" lvl="1" indent="-342900">
              <a:buFont typeface="Arial" panose="020B0604020202020204" pitchFamily="34" charset="0"/>
              <a:buChar char="•"/>
            </a:pPr>
            <a:r>
              <a:rPr lang="en-US" sz="2400" dirty="0" smtClean="0">
                <a:solidFill>
                  <a:schemeClr val="bg1">
                    <a:lumMod val="85000"/>
                  </a:schemeClr>
                </a:solidFill>
              </a:rPr>
              <a:t>Athletics</a:t>
            </a:r>
            <a:endParaRPr lang="en-US" sz="2400" dirty="0">
              <a:solidFill>
                <a:schemeClr val="bg1">
                  <a:lumMod val="85000"/>
                </a:schemeClr>
              </a:solidFill>
            </a:endParaRPr>
          </a:p>
          <a:p>
            <a:pPr marL="800100" lvl="1"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33681899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18765" y="487344"/>
            <a:ext cx="6172200" cy="830997"/>
          </a:xfrm>
          <a:prstGeom prst="rect">
            <a:avLst/>
          </a:prstGeom>
          <a:noFill/>
        </p:spPr>
        <p:txBody>
          <a:bodyPr wrap="square" rtlCol="0">
            <a:spAutoFit/>
          </a:bodyPr>
          <a:lstStyle/>
          <a:p>
            <a:pPr marL="457200" indent="-457200">
              <a:buSzPct val="100000"/>
              <a:buFont typeface="+mj-lt"/>
              <a:buAutoNum type="arabicPeriod" startAt="4"/>
            </a:pPr>
            <a:r>
              <a:rPr lang="en-US" sz="2400" dirty="0">
                <a:solidFill>
                  <a:schemeClr val="bg1">
                    <a:lumMod val="85000"/>
                  </a:schemeClr>
                </a:solidFill>
              </a:rPr>
              <a:t>Apart from the above mentioned sports, </a:t>
            </a:r>
            <a:r>
              <a:rPr lang="en-US" sz="2400" dirty="0" smtClean="0">
                <a:solidFill>
                  <a:schemeClr val="bg1">
                    <a:lumMod val="85000"/>
                  </a:schemeClr>
                </a:solidFill>
              </a:rPr>
              <a:t>you </a:t>
            </a:r>
            <a:r>
              <a:rPr lang="en-US" sz="2400" dirty="0">
                <a:solidFill>
                  <a:schemeClr val="bg1">
                    <a:lumMod val="85000"/>
                  </a:schemeClr>
                </a:solidFill>
              </a:rPr>
              <a:t>may add other sports of your choice.</a:t>
            </a:r>
          </a:p>
        </p:txBody>
      </p:sp>
      <p:sp>
        <p:nvSpPr>
          <p:cNvPr id="5" name="TextBox 4"/>
          <p:cNvSpPr txBox="1"/>
          <p:nvPr/>
        </p:nvSpPr>
        <p:spPr>
          <a:xfrm>
            <a:off x="1613647" y="1498804"/>
            <a:ext cx="6777318" cy="1754326"/>
          </a:xfrm>
          <a:prstGeom prst="rect">
            <a:avLst/>
          </a:prstGeom>
          <a:noFill/>
        </p:spPr>
        <p:txBody>
          <a:bodyPr wrap="square" rtlCol="0">
            <a:spAutoFit/>
          </a:bodyPr>
          <a:lstStyle/>
          <a:p>
            <a:pPr lvl="0"/>
            <a:r>
              <a:rPr lang="en-US" sz="3600" dirty="0">
                <a:solidFill>
                  <a:schemeClr val="bg1">
                    <a:lumMod val="95000"/>
                  </a:schemeClr>
                </a:solidFill>
              </a:rPr>
              <a:t>The information about a particular sport should include:</a:t>
            </a:r>
          </a:p>
          <a:p>
            <a:endParaRPr lang="en-US" sz="3600" dirty="0">
              <a:solidFill>
                <a:schemeClr val="bg1">
                  <a:lumMod val="95000"/>
                </a:schemeClr>
              </a:solidFill>
            </a:endParaRPr>
          </a:p>
        </p:txBody>
      </p:sp>
      <p:sp>
        <p:nvSpPr>
          <p:cNvPr id="9" name="Rectangle 2"/>
          <p:cNvSpPr>
            <a:spLocks noChangeArrowheads="1"/>
          </p:cNvSpPr>
          <p:nvPr/>
        </p:nvSpPr>
        <p:spPr bwMode="auto">
          <a:xfrm>
            <a:off x="2218765" y="2809377"/>
            <a:ext cx="902297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14400" algn="l"/>
              </a:tabLst>
              <a:defRPr>
                <a:solidFill>
                  <a:schemeClr val="tx1"/>
                </a:solidFill>
                <a:latin typeface="Arial" panose="020B0604020202020204" pitchFamily="34" charset="0"/>
              </a:defRPr>
            </a:lvl1pPr>
            <a:lvl2pPr eaLnBrk="0" fontAlgn="base" hangingPunct="0">
              <a:spcBef>
                <a:spcPct val="0"/>
              </a:spcBef>
              <a:spcAft>
                <a:spcPct val="0"/>
              </a:spcAft>
              <a:tabLst>
                <a:tab pos="914400" algn="l"/>
              </a:tabLst>
              <a:defRPr>
                <a:solidFill>
                  <a:schemeClr val="tx1"/>
                </a:solidFill>
                <a:latin typeface="Arial" panose="020B0604020202020204" pitchFamily="34" charset="0"/>
              </a:defRPr>
            </a:lvl2pPr>
            <a:lvl3pPr eaLnBrk="0" fontAlgn="base" hangingPunct="0">
              <a:spcBef>
                <a:spcPct val="0"/>
              </a:spcBef>
              <a:spcAft>
                <a:spcPct val="0"/>
              </a:spcAft>
              <a:tabLst>
                <a:tab pos="914400" algn="l"/>
              </a:tabLst>
              <a:defRPr>
                <a:solidFill>
                  <a:schemeClr val="tx1"/>
                </a:solidFill>
                <a:latin typeface="Arial" panose="020B0604020202020204" pitchFamily="34" charset="0"/>
              </a:defRPr>
            </a:lvl3pPr>
            <a:lvl4pPr eaLnBrk="0" fontAlgn="base" hangingPunct="0">
              <a:spcBef>
                <a:spcPct val="0"/>
              </a:spcBef>
              <a:spcAft>
                <a:spcPct val="0"/>
              </a:spcAft>
              <a:tabLst>
                <a:tab pos="914400" algn="l"/>
              </a:tabLst>
              <a:defRPr>
                <a:solidFill>
                  <a:schemeClr val="tx1"/>
                </a:solidFill>
                <a:latin typeface="Arial" panose="020B0604020202020204" pitchFamily="34" charset="0"/>
              </a:defRPr>
            </a:lvl4pPr>
            <a:lvl5pPr eaLnBrk="0" fontAlgn="base" hangingPunct="0">
              <a:spcBef>
                <a:spcPct val="0"/>
              </a:spcBef>
              <a:spcAft>
                <a:spcPct val="0"/>
              </a:spcAft>
              <a:tabLst>
                <a:tab pos="914400" algn="l"/>
              </a:tabLst>
              <a:defRPr>
                <a:solidFill>
                  <a:schemeClr val="tx1"/>
                </a:solidFill>
                <a:latin typeface="Arial" panose="020B0604020202020204" pitchFamily="34" charset="0"/>
              </a:defRPr>
            </a:lvl5pPr>
            <a:lvl6pPr eaLnBrk="0" fontAlgn="base" hangingPunct="0">
              <a:spcBef>
                <a:spcPct val="0"/>
              </a:spcBef>
              <a:spcAft>
                <a:spcPct val="0"/>
              </a:spcAft>
              <a:tabLst>
                <a:tab pos="914400" algn="l"/>
              </a:tabLst>
              <a:defRPr>
                <a:solidFill>
                  <a:schemeClr val="tx1"/>
                </a:solidFill>
                <a:latin typeface="Arial" panose="020B0604020202020204" pitchFamily="34" charset="0"/>
              </a:defRPr>
            </a:lvl6pPr>
            <a:lvl7pPr eaLnBrk="0" fontAlgn="base" hangingPunct="0">
              <a:spcBef>
                <a:spcPct val="0"/>
              </a:spcBef>
              <a:spcAft>
                <a:spcPct val="0"/>
              </a:spcAft>
              <a:tabLst>
                <a:tab pos="914400" algn="l"/>
              </a:tabLst>
              <a:defRPr>
                <a:solidFill>
                  <a:schemeClr val="tx1"/>
                </a:solidFill>
                <a:latin typeface="Arial" panose="020B0604020202020204" pitchFamily="34" charset="0"/>
              </a:defRPr>
            </a:lvl7pPr>
            <a:lvl8pPr eaLnBrk="0" fontAlgn="base" hangingPunct="0">
              <a:spcBef>
                <a:spcPct val="0"/>
              </a:spcBef>
              <a:spcAft>
                <a:spcPct val="0"/>
              </a:spcAft>
              <a:tabLst>
                <a:tab pos="914400" algn="l"/>
              </a:tabLst>
              <a:defRPr>
                <a:solidFill>
                  <a:schemeClr val="tx1"/>
                </a:solidFill>
                <a:latin typeface="Arial" panose="020B0604020202020204" pitchFamily="34" charset="0"/>
              </a:defRPr>
            </a:lvl8pPr>
            <a:lvl9pPr eaLnBrk="0" fontAlgn="base" hangingPunct="0">
              <a:spcBef>
                <a:spcPct val="0"/>
              </a:spcBef>
              <a:spcAft>
                <a:spcPct val="0"/>
              </a:spcAft>
              <a:tabLst>
                <a:tab pos="9144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buFontTx/>
              <a:buAutoNum type="arabicPeriod"/>
              <a:tabLst>
                <a:tab pos="914400" algn="l"/>
              </a:tabLst>
            </a:pPr>
            <a:r>
              <a:rPr kumimoji="0" lang="en-US" sz="2000" b="0" i="0" u="none" strike="noStrike" cap="none" normalizeH="0" baseline="0" dirty="0" smtClean="0">
                <a:ln>
                  <a:noFill/>
                </a:ln>
                <a:solidFill>
                  <a:schemeClr val="bg1">
                    <a:lumMod val="85000"/>
                  </a:schemeClr>
                </a:solidFill>
                <a:effectLst/>
                <a:latin typeface="Verdana" panose="020B0604030504040204" pitchFamily="34" charset="0"/>
                <a:ea typeface="Arial Unicode MS" panose="020B0604020202020204" pitchFamily="34" charset="-128"/>
                <a:cs typeface="Arial Unicode MS" panose="020B0604020202020204" pitchFamily="34" charset="-128"/>
              </a:rPr>
              <a:t>How many players play the game?</a:t>
            </a:r>
            <a:endParaRPr kumimoji="0" lang="en-US" sz="2000" b="0" i="0" u="none" strike="noStrike" cap="none" normalizeH="0" baseline="0" dirty="0" smtClean="0">
              <a:ln>
                <a:noFill/>
              </a:ln>
              <a:solidFill>
                <a:schemeClr val="bg1">
                  <a:lumMod val="85000"/>
                </a:schemeClr>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tab pos="914400" algn="l"/>
              </a:tabLst>
            </a:pPr>
            <a:r>
              <a:rPr kumimoji="0" lang="en-US" sz="2000" b="0" i="0" u="none" strike="noStrike" cap="none" normalizeH="0" baseline="0" dirty="0" smtClean="0">
                <a:ln>
                  <a:noFill/>
                </a:ln>
                <a:solidFill>
                  <a:schemeClr val="bg1">
                    <a:lumMod val="85000"/>
                  </a:schemeClr>
                </a:solidFill>
                <a:effectLst/>
                <a:latin typeface="Verdana" panose="020B0604030504040204" pitchFamily="34" charset="0"/>
                <a:ea typeface="Arial Unicode MS" panose="020B0604020202020204" pitchFamily="34" charset="-128"/>
                <a:cs typeface="Arial Unicode MS" panose="020B0604020202020204" pitchFamily="34" charset="-128"/>
              </a:rPr>
              <a:t>Strategy of the game.</a:t>
            </a:r>
            <a:endParaRPr kumimoji="0" lang="en-US" sz="2000" b="0" i="0" u="none" strike="noStrike" cap="none" normalizeH="0" baseline="0" dirty="0" smtClean="0">
              <a:ln>
                <a:noFill/>
              </a:ln>
              <a:solidFill>
                <a:schemeClr val="bg1">
                  <a:lumMod val="85000"/>
                </a:schemeClr>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tab pos="914400" algn="l"/>
              </a:tabLst>
            </a:pPr>
            <a:r>
              <a:rPr kumimoji="0" lang="en-US" sz="2000" b="0" i="0" u="none" strike="noStrike" cap="none" normalizeH="0" baseline="0" dirty="0" smtClean="0">
                <a:ln>
                  <a:noFill/>
                </a:ln>
                <a:solidFill>
                  <a:schemeClr val="bg1">
                    <a:lumMod val="85000"/>
                  </a:schemeClr>
                </a:solidFill>
                <a:effectLst/>
                <a:latin typeface="Verdana" panose="020B0604030504040204" pitchFamily="34" charset="0"/>
                <a:ea typeface="Arial Unicode MS" panose="020B0604020202020204" pitchFamily="34" charset="-128"/>
                <a:cs typeface="Arial Unicode MS" panose="020B0604020202020204" pitchFamily="34" charset="-128"/>
              </a:rPr>
              <a:t>Is it a team game?</a:t>
            </a:r>
            <a:endParaRPr kumimoji="0" lang="en-US" sz="2000" b="0" i="0" u="none" strike="noStrike" cap="none" normalizeH="0" baseline="0" dirty="0" smtClean="0">
              <a:ln>
                <a:noFill/>
              </a:ln>
              <a:solidFill>
                <a:schemeClr val="bg1">
                  <a:lumMod val="85000"/>
                </a:schemeClr>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tab pos="914400" algn="l"/>
              </a:tabLst>
            </a:pPr>
            <a:r>
              <a:rPr kumimoji="0" lang="en-US" sz="2000" b="0" i="0" u="none" strike="noStrike" cap="none" normalizeH="0" baseline="0" dirty="0" smtClean="0">
                <a:ln>
                  <a:noFill/>
                </a:ln>
                <a:solidFill>
                  <a:schemeClr val="bg1">
                    <a:lumMod val="85000"/>
                  </a:schemeClr>
                </a:solidFill>
                <a:effectLst/>
                <a:latin typeface="Verdana" panose="020B0604030504040204" pitchFamily="34" charset="0"/>
                <a:ea typeface="Arial Unicode MS" panose="020B0604020202020204" pitchFamily="34" charset="-128"/>
                <a:cs typeface="Arial Unicode MS" panose="020B0604020202020204" pitchFamily="34" charset="-128"/>
              </a:rPr>
              <a:t>Rules of the game.</a:t>
            </a:r>
            <a:endParaRPr kumimoji="0" lang="en-US" sz="2000" b="0" i="0" u="none" strike="noStrike" cap="none" normalizeH="0" baseline="0" dirty="0" smtClean="0">
              <a:ln>
                <a:noFill/>
              </a:ln>
              <a:solidFill>
                <a:schemeClr val="bg1">
                  <a:lumMod val="85000"/>
                </a:schemeClr>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tab pos="914400" algn="l"/>
              </a:tabLst>
            </a:pPr>
            <a:r>
              <a:rPr kumimoji="0" lang="en-US" sz="2000" b="0" i="0" u="none" strike="noStrike" cap="none" normalizeH="0" baseline="0" dirty="0" smtClean="0">
                <a:ln>
                  <a:noFill/>
                </a:ln>
                <a:solidFill>
                  <a:schemeClr val="bg1">
                    <a:lumMod val="85000"/>
                  </a:schemeClr>
                </a:solidFill>
                <a:effectLst/>
                <a:latin typeface="Verdana" panose="020B0604030504040204" pitchFamily="34" charset="0"/>
                <a:ea typeface="Arial Unicode MS" panose="020B0604020202020204" pitchFamily="34" charset="-128"/>
                <a:cs typeface="Arial Unicode MS" panose="020B0604020202020204" pitchFamily="34" charset="-128"/>
              </a:rPr>
              <a:t>Some important facts about the game (when was the game invented, any special tournament like World cup / Wimbledon is played etc etc).</a:t>
            </a:r>
            <a:endParaRPr kumimoji="0" lang="en-US" sz="2000" b="0" i="0" u="none" strike="noStrike" cap="none" normalizeH="0" baseline="0" dirty="0" smtClean="0">
              <a:ln>
                <a:noFill/>
              </a:ln>
              <a:solidFill>
                <a:schemeClr val="bg1">
                  <a:lumMod val="85000"/>
                </a:schemeClr>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tab pos="914400" algn="l"/>
              </a:tabLst>
            </a:pPr>
            <a:r>
              <a:rPr kumimoji="0" lang="en-US" sz="2000" b="0" i="0" u="none" strike="noStrike" cap="none" normalizeH="0" baseline="0" dirty="0" smtClean="0">
                <a:ln>
                  <a:noFill/>
                </a:ln>
                <a:solidFill>
                  <a:schemeClr val="bg1">
                    <a:lumMod val="85000"/>
                  </a:schemeClr>
                </a:solidFill>
                <a:effectLst/>
                <a:latin typeface="Verdana" panose="020B0604030504040204" pitchFamily="34" charset="0"/>
                <a:ea typeface="Arial Unicode MS" panose="020B0604020202020204" pitchFamily="34" charset="-128"/>
                <a:cs typeface="Arial Unicode MS" panose="020B0604020202020204" pitchFamily="34" charset="-128"/>
              </a:rPr>
              <a:t>Statistics/ records.</a:t>
            </a:r>
            <a:endParaRPr kumimoji="0" lang="en-US" sz="2000" b="0" i="0" u="none" strike="noStrike" cap="none" normalizeH="0" baseline="0" dirty="0" smtClean="0">
              <a:ln>
                <a:noFill/>
              </a:ln>
              <a:solidFill>
                <a:schemeClr val="bg1">
                  <a:lumMod val="85000"/>
                </a:schemeClr>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tab pos="914400" algn="l"/>
              </a:tabLst>
            </a:pPr>
            <a:r>
              <a:rPr kumimoji="0" lang="en-US" sz="2000" b="0" i="0" u="none" strike="noStrike" cap="none" normalizeH="0" baseline="0" dirty="0" smtClean="0">
                <a:ln>
                  <a:noFill/>
                </a:ln>
                <a:solidFill>
                  <a:schemeClr val="bg1">
                    <a:lumMod val="85000"/>
                  </a:schemeClr>
                </a:solidFill>
                <a:effectLst/>
                <a:latin typeface="Verdana" panose="020B0604030504040204" pitchFamily="34" charset="0"/>
                <a:ea typeface="Arial Unicode MS" panose="020B0604020202020204" pitchFamily="34" charset="-128"/>
                <a:cs typeface="Arial Unicode MS" panose="020B0604020202020204" pitchFamily="34" charset="-128"/>
              </a:rPr>
              <a:t>Also include the images of the players, clicking on which should display the detailed information about that player.</a:t>
            </a:r>
            <a:endParaRPr kumimoji="0" lang="en-US" sz="2000" b="0" i="0" u="none" strike="noStrike" cap="none" normalizeH="0" baseline="0" dirty="0" smtClean="0">
              <a:ln>
                <a:noFill/>
              </a:ln>
              <a:solidFill>
                <a:schemeClr val="bg1">
                  <a:lumMod val="85000"/>
                </a:schemeClr>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tab pos="914400" algn="l"/>
              </a:tabLst>
            </a:pPr>
            <a:r>
              <a:rPr kumimoji="0" lang="en-US" sz="2000" b="0" i="0" u="none" strike="noStrike" cap="none" normalizeH="0" baseline="0" dirty="0" smtClean="0">
                <a:ln>
                  <a:noFill/>
                </a:ln>
                <a:solidFill>
                  <a:schemeClr val="bg1">
                    <a:lumMod val="85000"/>
                  </a:schemeClr>
                </a:solidFill>
                <a:effectLst/>
                <a:latin typeface="Verdana" panose="020B0604030504040204" pitchFamily="34" charset="0"/>
                <a:ea typeface="Arial Unicode MS" panose="020B0604020202020204" pitchFamily="34" charset="-128"/>
                <a:cs typeface="Arial Unicode MS" panose="020B0604020202020204" pitchFamily="34" charset="-128"/>
              </a:rPr>
              <a:t>Which all countries play this game?</a:t>
            </a:r>
            <a:endParaRPr kumimoji="0" lang="en-US" sz="2000" b="0" i="0" u="none" strike="noStrike" cap="none" normalizeH="0" baseline="0" dirty="0" smtClean="0">
              <a:ln>
                <a:noFill/>
              </a:ln>
              <a:solidFill>
                <a:schemeClr val="bg1">
                  <a:lumMod val="85000"/>
                </a:schemeClr>
              </a:solidFill>
              <a:effectLst/>
            </a:endParaRPr>
          </a:p>
        </p:txBody>
      </p:sp>
    </p:spTree>
    <p:extLst>
      <p:ext uri="{BB962C8B-B14F-4D97-AF65-F5344CB8AC3E}">
        <p14:creationId xmlns:p14="http://schemas.microsoft.com/office/powerpoint/2010/main" val="69262901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91870" y="984885"/>
            <a:ext cx="9493623" cy="4893647"/>
          </a:xfrm>
          <a:prstGeom prst="rect">
            <a:avLst/>
          </a:prstGeom>
          <a:noFill/>
        </p:spPr>
        <p:txBody>
          <a:bodyPr wrap="square" rtlCol="0">
            <a:spAutoFit/>
          </a:bodyPr>
          <a:lstStyle/>
          <a:p>
            <a:pPr marL="457200" lvl="0" indent="-457200">
              <a:buFont typeface="+mj-lt"/>
              <a:buAutoNum type="arabicPeriod" startAt="5"/>
            </a:pPr>
            <a:r>
              <a:rPr lang="en-US" sz="2400" dirty="0">
                <a:solidFill>
                  <a:schemeClr val="bg1">
                    <a:lumMod val="85000"/>
                  </a:schemeClr>
                </a:solidFill>
              </a:rPr>
              <a:t>The user should be able to search a particular sport.</a:t>
            </a:r>
          </a:p>
          <a:p>
            <a:pPr marL="457200" lvl="0" indent="-457200">
              <a:buFont typeface="+mj-lt"/>
              <a:buAutoNum type="arabicPeriod" startAt="5"/>
            </a:pPr>
            <a:r>
              <a:rPr lang="en-US" sz="2400" dirty="0">
                <a:solidFill>
                  <a:schemeClr val="bg1">
                    <a:lumMod val="85000"/>
                  </a:schemeClr>
                </a:solidFill>
              </a:rPr>
              <a:t>Maintain the guestbook as an additional feature just to keep information about the users that visited the site. Guestbook information includes name, email, date of visit, address, comment about the site, whether visitor will recommend the site to others or not etc. Also ask the visitor to rate the site (rating levels 1-Excellent, 2-Good, 3-Average, 4-Poor).</a:t>
            </a:r>
          </a:p>
          <a:p>
            <a:pPr marL="457200" lvl="0" indent="-457200">
              <a:buFont typeface="+mj-lt"/>
              <a:buAutoNum type="arabicPeriod" startAt="5"/>
            </a:pPr>
            <a:r>
              <a:rPr lang="en-US" sz="2400" dirty="0">
                <a:solidFill>
                  <a:schemeClr val="bg1">
                    <a:lumMod val="85000"/>
                  </a:schemeClr>
                </a:solidFill>
              </a:rPr>
              <a:t>Provide a ‘About Us’ page which will introduce the company.</a:t>
            </a:r>
          </a:p>
          <a:p>
            <a:pPr marL="457200" lvl="0" indent="-457200">
              <a:buFont typeface="+mj-lt"/>
              <a:buAutoNum type="arabicPeriod" startAt="5"/>
            </a:pPr>
            <a:r>
              <a:rPr lang="en-US" sz="2400" dirty="0">
                <a:solidFill>
                  <a:schemeClr val="bg1">
                    <a:lumMod val="85000"/>
                  </a:schemeClr>
                </a:solidFill>
              </a:rPr>
              <a:t>There should be a “Contact Us” page which will have the Address of the Company and the mail address which when clicked will invoke the local mail client from where they can send an email.</a:t>
            </a:r>
          </a:p>
          <a:p>
            <a:pPr marL="457200" lvl="0" indent="-457200">
              <a:buFont typeface="+mj-lt"/>
              <a:buAutoNum type="arabicPeriod" startAt="5"/>
            </a:pPr>
            <a:r>
              <a:rPr lang="en-US" sz="2400" dirty="0">
                <a:solidFill>
                  <a:schemeClr val="bg1">
                    <a:lumMod val="85000"/>
                  </a:schemeClr>
                </a:solidFill>
              </a:rPr>
              <a:t>The site should have appropriate look and feel suitable to company’s reputation and status.</a:t>
            </a:r>
          </a:p>
        </p:txBody>
      </p:sp>
    </p:spTree>
    <p:extLst>
      <p:ext uri="{BB962C8B-B14F-4D97-AF65-F5344CB8AC3E}">
        <p14:creationId xmlns:p14="http://schemas.microsoft.com/office/powerpoint/2010/main" val="5347510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65010" y="580831"/>
            <a:ext cx="4279002" cy="5845727"/>
          </a:xfrm>
          <a:prstGeom prst="rect">
            <a:avLst/>
          </a:prstGeom>
        </p:spPr>
      </p:pic>
      <p:sp>
        <p:nvSpPr>
          <p:cNvPr id="3" name="TextBox 2"/>
          <p:cNvSpPr txBox="1"/>
          <p:nvPr/>
        </p:nvSpPr>
        <p:spPr>
          <a:xfrm>
            <a:off x="1854557" y="1339403"/>
            <a:ext cx="3593205" cy="1569660"/>
          </a:xfrm>
          <a:prstGeom prst="rect">
            <a:avLst/>
          </a:prstGeom>
          <a:noFill/>
          <a:ln>
            <a:noFill/>
          </a:ln>
        </p:spPr>
        <p:txBody>
          <a:bodyPr wrap="square" rtlCol="0">
            <a:spAutoFit/>
          </a:bodyPr>
          <a:lstStyle/>
          <a:p>
            <a:pPr algn="ctr"/>
            <a:r>
              <a:rPr lang="en-US" sz="4800" dirty="0" smtClean="0">
                <a:solidFill>
                  <a:schemeClr val="bg1">
                    <a:lumMod val="85000"/>
                  </a:schemeClr>
                </a:solidFill>
              </a:rPr>
              <a:t>HOME PAGE Layout</a:t>
            </a:r>
            <a:endParaRPr lang="en-US" sz="4800" dirty="0">
              <a:solidFill>
                <a:schemeClr val="bg1">
                  <a:lumMod val="85000"/>
                </a:schemeClr>
              </a:solidFill>
            </a:endParaRPr>
          </a:p>
        </p:txBody>
      </p:sp>
    </p:spTree>
    <p:extLst>
      <p:ext uri="{BB962C8B-B14F-4D97-AF65-F5344CB8AC3E}">
        <p14:creationId xmlns:p14="http://schemas.microsoft.com/office/powerpoint/2010/main" val="249680229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4557" y="1339403"/>
            <a:ext cx="3593205" cy="1569660"/>
          </a:xfrm>
          <a:prstGeom prst="rect">
            <a:avLst/>
          </a:prstGeom>
          <a:noFill/>
          <a:ln>
            <a:noFill/>
          </a:ln>
        </p:spPr>
        <p:txBody>
          <a:bodyPr wrap="square" rtlCol="0">
            <a:spAutoFit/>
          </a:bodyPr>
          <a:lstStyle/>
          <a:p>
            <a:pPr algn="ctr"/>
            <a:r>
              <a:rPr lang="en-US" sz="4800" dirty="0" smtClean="0">
                <a:solidFill>
                  <a:schemeClr val="bg1">
                    <a:lumMod val="85000"/>
                  </a:schemeClr>
                </a:solidFill>
              </a:rPr>
              <a:t>ABOUT PAGE Layout</a:t>
            </a:r>
            <a:endParaRPr lang="en-US" sz="4800" dirty="0">
              <a:solidFill>
                <a:schemeClr val="bg1">
                  <a:lumMod val="85000"/>
                </a:schemeClr>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2888" y="625907"/>
            <a:ext cx="4575215" cy="5845727"/>
          </a:xfrm>
          <a:prstGeom prst="rect">
            <a:avLst/>
          </a:prstGeom>
        </p:spPr>
      </p:pic>
    </p:spTree>
    <p:extLst>
      <p:ext uri="{BB962C8B-B14F-4D97-AF65-F5344CB8AC3E}">
        <p14:creationId xmlns:p14="http://schemas.microsoft.com/office/powerpoint/2010/main" val="38657107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91673" y="1326524"/>
            <a:ext cx="4932609" cy="1569660"/>
          </a:xfrm>
          <a:prstGeom prst="rect">
            <a:avLst/>
          </a:prstGeom>
          <a:noFill/>
          <a:ln>
            <a:noFill/>
          </a:ln>
        </p:spPr>
        <p:txBody>
          <a:bodyPr wrap="square" rtlCol="0">
            <a:spAutoFit/>
          </a:bodyPr>
          <a:lstStyle/>
          <a:p>
            <a:pPr algn="ctr"/>
            <a:r>
              <a:rPr lang="en-US" sz="4800" dirty="0" smtClean="0">
                <a:solidFill>
                  <a:schemeClr val="bg1">
                    <a:lumMod val="85000"/>
                  </a:schemeClr>
                </a:solidFill>
              </a:rPr>
              <a:t>GALLERY PAGE Layout</a:t>
            </a:r>
            <a:endParaRPr lang="en-US" sz="4800" dirty="0">
              <a:solidFill>
                <a:schemeClr val="bg1">
                  <a:lumMod val="85000"/>
                </a:schemeClr>
              </a:solidFil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5031" y="542780"/>
            <a:ext cx="4575215" cy="5892126"/>
          </a:xfrm>
          <a:prstGeom prst="rect">
            <a:avLst/>
          </a:prstGeom>
        </p:spPr>
      </p:pic>
    </p:spTree>
    <p:extLst>
      <p:ext uri="{BB962C8B-B14F-4D97-AF65-F5344CB8AC3E}">
        <p14:creationId xmlns:p14="http://schemas.microsoft.com/office/powerpoint/2010/main" val="113553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91673" y="1326524"/>
            <a:ext cx="4932609" cy="1569660"/>
          </a:xfrm>
          <a:prstGeom prst="rect">
            <a:avLst/>
          </a:prstGeom>
          <a:noFill/>
          <a:ln>
            <a:noFill/>
          </a:ln>
        </p:spPr>
        <p:txBody>
          <a:bodyPr wrap="square" rtlCol="0">
            <a:spAutoFit/>
          </a:bodyPr>
          <a:lstStyle/>
          <a:p>
            <a:pPr algn="ctr"/>
            <a:r>
              <a:rPr lang="en-US" sz="4800" dirty="0" smtClean="0">
                <a:solidFill>
                  <a:schemeClr val="bg1">
                    <a:lumMod val="85000"/>
                  </a:schemeClr>
                </a:solidFill>
              </a:rPr>
              <a:t>CONTACT PAGE Layout</a:t>
            </a:r>
            <a:endParaRPr lang="en-US" sz="4800" dirty="0">
              <a:solidFill>
                <a:schemeClr val="bg1">
                  <a:lumMod val="85000"/>
                </a:schemeClr>
              </a:solidFil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5031" y="542780"/>
            <a:ext cx="4575215" cy="5892126"/>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5031" y="542780"/>
            <a:ext cx="4575215" cy="5892126"/>
          </a:xfrm>
          <a:prstGeom prst="rect">
            <a:avLst/>
          </a:prstGeom>
        </p:spPr>
      </p:pic>
    </p:spTree>
    <p:extLst>
      <p:ext uri="{BB962C8B-B14F-4D97-AF65-F5344CB8AC3E}">
        <p14:creationId xmlns:p14="http://schemas.microsoft.com/office/powerpoint/2010/main" val="24500636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TotalTime>
  <Words>435</Words>
  <Application>Microsoft Office PowerPoint</Application>
  <PresentationFormat>Widescreen</PresentationFormat>
  <Paragraphs>40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Adobe Fan Heiti Std B</vt:lpstr>
      <vt:lpstr>Arial Unicode MS</vt:lpstr>
      <vt:lpstr>Arial</vt:lpstr>
      <vt:lpstr>Calibri</vt:lpstr>
      <vt:lpstr>Calibri Light</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FAISAL SHABBIR</dc:creator>
  <cp:lastModifiedBy>FAISAL SHABBIR</cp:lastModifiedBy>
  <cp:revision>85</cp:revision>
  <dcterms:created xsi:type="dcterms:W3CDTF">2017-09-19T08:57:38Z</dcterms:created>
  <dcterms:modified xsi:type="dcterms:W3CDTF">2018-01-09T05:02:24Z</dcterms:modified>
</cp:coreProperties>
</file>